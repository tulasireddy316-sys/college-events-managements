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ree Serif" panose="020B0604020202020204" charset="0"/>
      <p:regular r:id="rId10"/>
    </p:embeddedFont>
    <p:embeddedFont>
      <p:font typeface="Codec Pro"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4" name="TextBox 4"/>
          <p:cNvSpPr txBox="1"/>
          <p:nvPr/>
        </p:nvSpPr>
        <p:spPr>
          <a:xfrm>
            <a:off x="3402607" y="1988104"/>
            <a:ext cx="11482787" cy="4667641"/>
          </a:xfrm>
          <a:prstGeom prst="rect">
            <a:avLst/>
          </a:prstGeom>
        </p:spPr>
        <p:txBody>
          <a:bodyPr lIns="0" tIns="0" rIns="0" bIns="0" rtlCol="0" anchor="t">
            <a:spAutoFit/>
          </a:bodyPr>
          <a:lstStyle/>
          <a:p>
            <a:pPr marL="0" lvl="0" indent="0" algn="ctr">
              <a:lnSpc>
                <a:spcPts val="12032"/>
              </a:lnSpc>
            </a:pPr>
            <a:r>
              <a:rPr lang="en-US" sz="12404">
                <a:solidFill>
                  <a:srgbClr val="005162"/>
                </a:solidFill>
                <a:latin typeface="Bree Serif"/>
                <a:ea typeface="Bree Serif"/>
                <a:cs typeface="Bree Serif"/>
                <a:sym typeface="Bree Serif"/>
              </a:rPr>
              <a:t>MERN-Based College Event Management</a:t>
            </a:r>
          </a:p>
        </p:txBody>
      </p:sp>
      <p:sp>
        <p:nvSpPr>
          <p:cNvPr id="11" name="TextBox 11"/>
          <p:cNvSpPr txBox="1"/>
          <p:nvPr/>
        </p:nvSpPr>
        <p:spPr>
          <a:xfrm>
            <a:off x="4729301" y="6696823"/>
            <a:ext cx="8829398" cy="980393"/>
          </a:xfrm>
          <a:prstGeom prst="rect">
            <a:avLst/>
          </a:prstGeom>
        </p:spPr>
        <p:txBody>
          <a:bodyPr lIns="0" tIns="0" rIns="0" bIns="0" rtlCol="0" anchor="t">
            <a:spAutoFit/>
          </a:bodyPr>
          <a:lstStyle/>
          <a:p>
            <a:pPr marL="0" lvl="0" indent="0" algn="ctr">
              <a:lnSpc>
                <a:spcPts val="7387"/>
              </a:lnSpc>
            </a:pPr>
            <a:r>
              <a:rPr lang="en-US" sz="5276" spc="58">
                <a:solidFill>
                  <a:srgbClr val="000000"/>
                </a:solidFill>
                <a:latin typeface="Codec Pro"/>
                <a:ea typeface="Codec Pro"/>
                <a:cs typeface="Codec Pro"/>
                <a:sym typeface="Codec Pro"/>
              </a:rPr>
              <a:t>Group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TextBox 2"/>
          <p:cNvSpPr txBox="1"/>
          <p:nvPr/>
        </p:nvSpPr>
        <p:spPr>
          <a:xfrm>
            <a:off x="5871030" y="1531498"/>
            <a:ext cx="6545941" cy="540443"/>
          </a:xfrm>
          <a:prstGeom prst="rect">
            <a:avLst/>
          </a:prstGeom>
        </p:spPr>
        <p:txBody>
          <a:bodyPr lIns="0" tIns="0" rIns="0" bIns="0" rtlCol="0" anchor="t">
            <a:spAutoFit/>
          </a:bodyPr>
          <a:lstStyle/>
          <a:p>
            <a:pPr marL="0" lvl="0" indent="0" algn="ctr">
              <a:lnSpc>
                <a:spcPts val="4029"/>
              </a:lnSpc>
            </a:pPr>
            <a:r>
              <a:rPr lang="en-US" sz="4154">
                <a:solidFill>
                  <a:srgbClr val="005162"/>
                </a:solidFill>
                <a:latin typeface="Bree Serif"/>
                <a:ea typeface="Bree Serif"/>
                <a:cs typeface="Bree Serif"/>
                <a:sym typeface="Bree Serif"/>
              </a:rPr>
              <a:t>Project Overview</a:t>
            </a:r>
          </a:p>
        </p:txBody>
      </p:sp>
      <p:sp>
        <p:nvSpPr>
          <p:cNvPr id="3" name="TextBox 3"/>
          <p:cNvSpPr txBox="1"/>
          <p:nvPr/>
        </p:nvSpPr>
        <p:spPr>
          <a:xfrm>
            <a:off x="4099538" y="4679287"/>
            <a:ext cx="10088924" cy="785551"/>
          </a:xfrm>
          <a:prstGeom prst="rect">
            <a:avLst/>
          </a:prstGeom>
        </p:spPr>
        <p:txBody>
          <a:bodyPr lIns="0" tIns="0" rIns="0" bIns="0" rtlCol="0" anchor="t">
            <a:spAutoFit/>
          </a:bodyPr>
          <a:lstStyle/>
          <a:p>
            <a:pPr marL="0" lvl="0" indent="0" algn="ctr">
              <a:lnSpc>
                <a:spcPts val="5969"/>
              </a:lnSpc>
            </a:pPr>
            <a:r>
              <a:rPr lang="en-US" sz="4263" spc="46">
                <a:solidFill>
                  <a:srgbClr val="000000"/>
                </a:solidFill>
                <a:latin typeface="Codec Pro"/>
                <a:ea typeface="Codec Pro"/>
                <a:cs typeface="Codec Pro"/>
                <a:sym typeface="Codec Pro"/>
              </a:rPr>
              <a:t>Solution: MERN-based event platform</a:t>
            </a:r>
          </a:p>
        </p:txBody>
      </p:sp>
      <p:sp>
        <p:nvSpPr>
          <p:cNvPr id="4" name="TextBox 4"/>
          <p:cNvSpPr txBox="1"/>
          <p:nvPr/>
        </p:nvSpPr>
        <p:spPr>
          <a:xfrm>
            <a:off x="4099538" y="3271162"/>
            <a:ext cx="10088924" cy="785551"/>
          </a:xfrm>
          <a:prstGeom prst="rect">
            <a:avLst/>
          </a:prstGeom>
        </p:spPr>
        <p:txBody>
          <a:bodyPr lIns="0" tIns="0" rIns="0" bIns="0" rtlCol="0" anchor="t">
            <a:spAutoFit/>
          </a:bodyPr>
          <a:lstStyle/>
          <a:p>
            <a:pPr marL="0" lvl="0" indent="0" algn="ctr">
              <a:lnSpc>
                <a:spcPts val="5969"/>
              </a:lnSpc>
            </a:pPr>
            <a:r>
              <a:rPr lang="en-US" sz="4263" spc="46">
                <a:solidFill>
                  <a:srgbClr val="000000"/>
                </a:solidFill>
                <a:latin typeface="Codec Pro"/>
                <a:ea typeface="Codec Pro"/>
                <a:cs typeface="Codec Pro"/>
                <a:sym typeface="Codec Pro"/>
              </a:rPr>
              <a:t>Problem: Managing college events</a:t>
            </a:r>
          </a:p>
        </p:txBody>
      </p:sp>
      <p:sp>
        <p:nvSpPr>
          <p:cNvPr id="5" name="TextBox 5"/>
          <p:cNvSpPr txBox="1"/>
          <p:nvPr/>
        </p:nvSpPr>
        <p:spPr>
          <a:xfrm>
            <a:off x="4099538" y="6087412"/>
            <a:ext cx="10088924" cy="785551"/>
          </a:xfrm>
          <a:prstGeom prst="rect">
            <a:avLst/>
          </a:prstGeom>
        </p:spPr>
        <p:txBody>
          <a:bodyPr lIns="0" tIns="0" rIns="0" bIns="0" rtlCol="0" anchor="t">
            <a:spAutoFit/>
          </a:bodyPr>
          <a:lstStyle/>
          <a:p>
            <a:pPr marL="0" lvl="0" indent="0" algn="ctr">
              <a:lnSpc>
                <a:spcPts val="5969"/>
              </a:lnSpc>
            </a:pPr>
            <a:r>
              <a:rPr lang="en-US" sz="4263" spc="46">
                <a:solidFill>
                  <a:srgbClr val="000000"/>
                </a:solidFill>
                <a:latin typeface="Codec Pro"/>
                <a:ea typeface="Codec Pro"/>
                <a:cs typeface="Codec Pro"/>
                <a:sym typeface="Codec Pro"/>
              </a:rPr>
              <a:t>Records: name, date, venue, organizer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3" name="TextBox 3"/>
          <p:cNvSpPr txBox="1"/>
          <p:nvPr/>
        </p:nvSpPr>
        <p:spPr>
          <a:xfrm>
            <a:off x="5871030" y="1185225"/>
            <a:ext cx="6545941" cy="885658"/>
          </a:xfrm>
          <a:prstGeom prst="rect">
            <a:avLst/>
          </a:prstGeom>
        </p:spPr>
        <p:txBody>
          <a:bodyPr lIns="0" tIns="0" rIns="0" bIns="0" rtlCol="0" anchor="t">
            <a:spAutoFit/>
          </a:bodyPr>
          <a:lstStyle/>
          <a:p>
            <a:pPr marL="0" lvl="0" indent="0" algn="ctr">
              <a:lnSpc>
                <a:spcPts val="6636"/>
              </a:lnSpc>
            </a:pPr>
            <a:r>
              <a:rPr lang="en-US" sz="6842">
                <a:solidFill>
                  <a:srgbClr val="005162"/>
                </a:solidFill>
                <a:latin typeface="Bree Serif"/>
                <a:ea typeface="Bree Serif"/>
                <a:cs typeface="Bree Serif"/>
                <a:sym typeface="Bree Serif"/>
              </a:rPr>
              <a:t>Overview</a:t>
            </a:r>
          </a:p>
        </p:txBody>
      </p:sp>
      <p:sp>
        <p:nvSpPr>
          <p:cNvPr id="12" name="TextBox 12"/>
          <p:cNvSpPr txBox="1"/>
          <p:nvPr/>
        </p:nvSpPr>
        <p:spPr>
          <a:xfrm>
            <a:off x="3546235" y="3356687"/>
            <a:ext cx="11195529" cy="1325838"/>
          </a:xfrm>
          <a:prstGeom prst="rect">
            <a:avLst/>
          </a:prstGeom>
        </p:spPr>
        <p:txBody>
          <a:bodyPr lIns="0" tIns="0" rIns="0" bIns="0" rtlCol="0" anchor="t">
            <a:spAutoFit/>
          </a:bodyPr>
          <a:lstStyle/>
          <a:p>
            <a:pPr marL="0" lvl="0" indent="0" algn="l">
              <a:lnSpc>
                <a:spcPts val="2628"/>
              </a:lnSpc>
            </a:pPr>
            <a:r>
              <a:rPr lang="en-US" sz="1877" spc="20">
                <a:solidFill>
                  <a:srgbClr val="000000"/>
                </a:solidFill>
                <a:latin typeface="Codec Pro"/>
                <a:ea typeface="Codec Pro"/>
                <a:cs typeface="Codec Pro"/>
                <a:sym typeface="Codec Pro"/>
              </a:rPr>
              <a:t>College events are difficult to coordinate without a unified system. Event organizers struggle with managing event details such as name, date, time, venue, and participants across scattered tools. There is no centralized platform to track registrations, communicate updates, or provide role-based access for admins and students, leading to inefficiencies and miscommunication.</a:t>
            </a:r>
          </a:p>
        </p:txBody>
      </p:sp>
      <p:sp>
        <p:nvSpPr>
          <p:cNvPr id="13" name="TextBox 13"/>
          <p:cNvSpPr txBox="1"/>
          <p:nvPr/>
        </p:nvSpPr>
        <p:spPr>
          <a:xfrm>
            <a:off x="3546235" y="6202063"/>
            <a:ext cx="11195529" cy="1325838"/>
          </a:xfrm>
          <a:prstGeom prst="rect">
            <a:avLst/>
          </a:prstGeom>
        </p:spPr>
        <p:txBody>
          <a:bodyPr lIns="0" tIns="0" rIns="0" bIns="0" rtlCol="0" anchor="t">
            <a:spAutoFit/>
          </a:bodyPr>
          <a:lstStyle/>
          <a:p>
            <a:pPr marL="0" lvl="0" indent="0" algn="l">
              <a:lnSpc>
                <a:spcPts val="2628"/>
              </a:lnSpc>
            </a:pPr>
            <a:r>
              <a:rPr lang="en-US" sz="1877" spc="20">
                <a:solidFill>
                  <a:srgbClr val="000000"/>
                </a:solidFill>
                <a:latin typeface="Codec Pro"/>
                <a:ea typeface="Codec Pro"/>
                <a:cs typeface="Codec Pro"/>
                <a:sym typeface="Codec Pro"/>
              </a:rPr>
              <a:t>A centralized MERN-based web application will streamline college event management. The system will allow creation, viewing, updating, and management of event records and participants through an intuitive React frontend, backed by Node.js and Express.js REST APIs, with all data securely stored and managed in MongoDB.</a:t>
            </a:r>
          </a:p>
        </p:txBody>
      </p:sp>
      <p:sp>
        <p:nvSpPr>
          <p:cNvPr id="14" name="TextBox 14"/>
          <p:cNvSpPr txBox="1"/>
          <p:nvPr/>
        </p:nvSpPr>
        <p:spPr>
          <a:xfrm>
            <a:off x="3589440" y="5328671"/>
            <a:ext cx="4563179" cy="538558"/>
          </a:xfrm>
          <a:prstGeom prst="rect">
            <a:avLst/>
          </a:prstGeom>
        </p:spPr>
        <p:txBody>
          <a:bodyPr lIns="0" tIns="0" rIns="0" bIns="0" rtlCol="0" anchor="t">
            <a:spAutoFit/>
          </a:bodyPr>
          <a:lstStyle/>
          <a:p>
            <a:pPr marL="0" lvl="0" indent="0" algn="l">
              <a:lnSpc>
                <a:spcPts val="4069"/>
              </a:lnSpc>
            </a:pPr>
            <a:r>
              <a:rPr lang="en-US" sz="4195">
                <a:solidFill>
                  <a:srgbClr val="005162"/>
                </a:solidFill>
                <a:latin typeface="Bree Serif"/>
                <a:ea typeface="Bree Serif"/>
                <a:cs typeface="Bree Serif"/>
                <a:sym typeface="Bree Serif"/>
              </a:rPr>
              <a:t>Proposed Solution</a:t>
            </a:r>
          </a:p>
        </p:txBody>
      </p:sp>
      <p:sp>
        <p:nvSpPr>
          <p:cNvPr id="15" name="TextBox 15"/>
          <p:cNvSpPr txBox="1"/>
          <p:nvPr/>
        </p:nvSpPr>
        <p:spPr>
          <a:xfrm>
            <a:off x="3546235" y="2496890"/>
            <a:ext cx="4563179" cy="538558"/>
          </a:xfrm>
          <a:prstGeom prst="rect">
            <a:avLst/>
          </a:prstGeom>
        </p:spPr>
        <p:txBody>
          <a:bodyPr lIns="0" tIns="0" rIns="0" bIns="0" rtlCol="0" anchor="t">
            <a:spAutoFit/>
          </a:bodyPr>
          <a:lstStyle/>
          <a:p>
            <a:pPr marL="0" lvl="0" indent="0" algn="l">
              <a:lnSpc>
                <a:spcPts val="4069"/>
              </a:lnSpc>
            </a:pPr>
            <a:r>
              <a:rPr lang="en-US" sz="4195">
                <a:solidFill>
                  <a:srgbClr val="005162"/>
                </a:solidFill>
                <a:latin typeface="Bree Serif"/>
                <a:ea typeface="Bree Serif"/>
                <a:cs typeface="Bree Serif"/>
                <a:sym typeface="Bree Serif"/>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TextBox 2"/>
          <p:cNvSpPr txBox="1"/>
          <p:nvPr/>
        </p:nvSpPr>
        <p:spPr>
          <a:xfrm>
            <a:off x="3885241" y="1185224"/>
            <a:ext cx="10517519" cy="885659"/>
          </a:xfrm>
          <a:prstGeom prst="rect">
            <a:avLst/>
          </a:prstGeom>
        </p:spPr>
        <p:txBody>
          <a:bodyPr lIns="0" tIns="0" rIns="0" bIns="0" rtlCol="0" anchor="t">
            <a:spAutoFit/>
          </a:bodyPr>
          <a:lstStyle/>
          <a:p>
            <a:pPr marL="0" lvl="0" indent="0" algn="ctr">
              <a:lnSpc>
                <a:spcPts val="6636"/>
              </a:lnSpc>
            </a:pPr>
            <a:r>
              <a:rPr lang="en-US" sz="6842">
                <a:solidFill>
                  <a:srgbClr val="005162"/>
                </a:solidFill>
                <a:latin typeface="Bree Serif"/>
                <a:ea typeface="Bree Serif"/>
                <a:cs typeface="Bree Serif"/>
                <a:sym typeface="Bree Serif"/>
              </a:rPr>
              <a:t>Tech Architecture</a:t>
            </a:r>
          </a:p>
        </p:txBody>
      </p:sp>
      <p:sp>
        <p:nvSpPr>
          <p:cNvPr id="10" name="TextBox 10"/>
          <p:cNvSpPr txBox="1"/>
          <p:nvPr/>
        </p:nvSpPr>
        <p:spPr>
          <a:xfrm>
            <a:off x="3363085" y="3221868"/>
            <a:ext cx="4757075" cy="4147430"/>
          </a:xfrm>
          <a:prstGeom prst="rect">
            <a:avLst/>
          </a:prstGeom>
        </p:spPr>
        <p:txBody>
          <a:bodyPr lIns="0" tIns="0" rIns="0" bIns="0" rtlCol="0" anchor="t">
            <a:spAutoFit/>
          </a:bodyPr>
          <a:lstStyle/>
          <a:p>
            <a:pPr marL="0" lvl="0" indent="0" algn="l">
              <a:lnSpc>
                <a:spcPts val="2967"/>
              </a:lnSpc>
            </a:pPr>
            <a:r>
              <a:rPr lang="en-US" sz="2119" spc="23">
                <a:solidFill>
                  <a:srgbClr val="000000"/>
                </a:solidFill>
                <a:latin typeface="Codec Pro"/>
                <a:ea typeface="Codec Pro"/>
                <a:cs typeface="Codec Pro"/>
                <a:sym typeface="Codec Pro"/>
              </a:rPr>
              <a:t>React.js is used to build the user interface for the college event management system. It renders dynamic event listings, registration forms, and dashboards. React components handle event creation, viewing, and updates. Role-based views are served to admins and students. State management ensures a smooth, responsive experience across all pages.</a:t>
            </a:r>
          </a:p>
        </p:txBody>
      </p:sp>
      <p:sp>
        <p:nvSpPr>
          <p:cNvPr id="11" name="TextBox 11"/>
          <p:cNvSpPr txBox="1"/>
          <p:nvPr/>
        </p:nvSpPr>
        <p:spPr>
          <a:xfrm>
            <a:off x="10778417" y="3034365"/>
            <a:ext cx="4757075" cy="4522436"/>
          </a:xfrm>
          <a:prstGeom prst="rect">
            <a:avLst/>
          </a:prstGeom>
        </p:spPr>
        <p:txBody>
          <a:bodyPr lIns="0" tIns="0" rIns="0" bIns="0" rtlCol="0" anchor="t">
            <a:spAutoFit/>
          </a:bodyPr>
          <a:lstStyle/>
          <a:p>
            <a:pPr marL="0" lvl="0" indent="0" algn="l">
              <a:lnSpc>
                <a:spcPts val="2967"/>
              </a:lnSpc>
            </a:pPr>
            <a:r>
              <a:rPr lang="en-US" sz="2119" spc="23">
                <a:solidFill>
                  <a:srgbClr val="000000"/>
                </a:solidFill>
                <a:latin typeface="Codec Pro"/>
                <a:ea typeface="Codec Pro"/>
                <a:cs typeface="Codec Pro"/>
                <a:sym typeface="Codec Pro"/>
              </a:rPr>
              <a:t>Node.js and Express.js power the REST API layer, handling all HTTP requests for event management. APIs support CRUD operations: adding, viewing, updating, and deleting events. MongoDB stores event data including name, date, time, venue, organizer, and participants. Authentication middleware enforces role-based access control for secure data management.</a:t>
            </a:r>
          </a:p>
        </p:txBody>
      </p:sp>
      <p:sp>
        <p:nvSpPr>
          <p:cNvPr id="12" name="TextBox 12"/>
          <p:cNvSpPr txBox="1"/>
          <p:nvPr/>
        </p:nvSpPr>
        <p:spPr>
          <a:xfrm>
            <a:off x="3363085" y="2463742"/>
            <a:ext cx="3951758" cy="582656"/>
          </a:xfrm>
          <a:prstGeom prst="rect">
            <a:avLst/>
          </a:prstGeom>
        </p:spPr>
        <p:txBody>
          <a:bodyPr lIns="0" tIns="0" rIns="0" bIns="0" rtlCol="0" anchor="t">
            <a:spAutoFit/>
          </a:bodyPr>
          <a:lstStyle/>
          <a:p>
            <a:pPr marL="0" lvl="0" indent="0" algn="ctr">
              <a:lnSpc>
                <a:spcPts val="4334"/>
              </a:lnSpc>
            </a:pPr>
            <a:r>
              <a:rPr lang="en-US" sz="4468">
                <a:solidFill>
                  <a:srgbClr val="005162"/>
                </a:solidFill>
                <a:latin typeface="Bree Serif"/>
                <a:ea typeface="Bree Serif"/>
                <a:cs typeface="Bree Serif"/>
                <a:sym typeface="Bree Serif"/>
              </a:rPr>
              <a:t>Frontend</a:t>
            </a:r>
          </a:p>
        </p:txBody>
      </p:sp>
      <p:sp>
        <p:nvSpPr>
          <p:cNvPr id="13" name="TextBox 13"/>
          <p:cNvSpPr txBox="1"/>
          <p:nvPr/>
        </p:nvSpPr>
        <p:spPr>
          <a:xfrm>
            <a:off x="10778417" y="2463742"/>
            <a:ext cx="3951758" cy="582656"/>
          </a:xfrm>
          <a:prstGeom prst="rect">
            <a:avLst/>
          </a:prstGeom>
        </p:spPr>
        <p:txBody>
          <a:bodyPr lIns="0" tIns="0" rIns="0" bIns="0" rtlCol="0" anchor="t">
            <a:spAutoFit/>
          </a:bodyPr>
          <a:lstStyle/>
          <a:p>
            <a:pPr marL="0" lvl="0" indent="0" algn="ctr">
              <a:lnSpc>
                <a:spcPts val="4334"/>
              </a:lnSpc>
            </a:pPr>
            <a:r>
              <a:rPr lang="en-US" sz="4468">
                <a:solidFill>
                  <a:srgbClr val="005162"/>
                </a:solidFill>
                <a:latin typeface="Bree Serif"/>
                <a:ea typeface="Bree Serif"/>
                <a:cs typeface="Bree Serif"/>
                <a:sym typeface="Bree Serif"/>
              </a:rPr>
              <a:t>Backend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TextBox 2"/>
          <p:cNvSpPr txBox="1"/>
          <p:nvPr/>
        </p:nvSpPr>
        <p:spPr>
          <a:xfrm>
            <a:off x="5871030" y="1199984"/>
            <a:ext cx="6545941" cy="870899"/>
          </a:xfrm>
          <a:prstGeom prst="rect">
            <a:avLst/>
          </a:prstGeom>
        </p:spPr>
        <p:txBody>
          <a:bodyPr lIns="0" tIns="0" rIns="0" bIns="0" rtlCol="0" anchor="t">
            <a:spAutoFit/>
          </a:bodyPr>
          <a:lstStyle/>
          <a:p>
            <a:pPr marL="0" lvl="0" indent="0" algn="ctr">
              <a:lnSpc>
                <a:spcPts val="6463"/>
              </a:lnSpc>
            </a:pPr>
            <a:r>
              <a:rPr lang="en-US" sz="6662">
                <a:solidFill>
                  <a:srgbClr val="005162"/>
                </a:solidFill>
                <a:latin typeface="Bree Serif"/>
                <a:ea typeface="Bree Serif"/>
                <a:cs typeface="Bree Serif"/>
                <a:sym typeface="Bree Serif"/>
              </a:rPr>
              <a:t>CRUD Operations</a:t>
            </a:r>
          </a:p>
        </p:txBody>
      </p:sp>
      <p:sp>
        <p:nvSpPr>
          <p:cNvPr id="10" name="TextBox 10"/>
          <p:cNvSpPr txBox="1"/>
          <p:nvPr/>
        </p:nvSpPr>
        <p:spPr>
          <a:xfrm>
            <a:off x="3546235" y="2484608"/>
            <a:ext cx="11195529" cy="2084365"/>
          </a:xfrm>
          <a:prstGeom prst="rect">
            <a:avLst/>
          </a:prstGeom>
        </p:spPr>
        <p:txBody>
          <a:bodyPr lIns="0" tIns="0" rIns="0" bIns="0" rtlCol="0" anchor="t">
            <a:spAutoFit/>
          </a:bodyPr>
          <a:lstStyle/>
          <a:p>
            <a:pPr marL="0" lvl="0" indent="0" algn="l">
              <a:lnSpc>
                <a:spcPts val="3238"/>
              </a:lnSpc>
            </a:pPr>
            <a:r>
              <a:rPr lang="en-US" sz="2313" spc="25">
                <a:solidFill>
                  <a:srgbClr val="000000"/>
                </a:solidFill>
                <a:latin typeface="Codec Pro"/>
                <a:ea typeface="Codec Pro"/>
                <a:cs typeface="Codec Pro"/>
                <a:sym typeface="Codec Pro"/>
              </a:rPr>
              <a:t>Add &amp; View Events</a:t>
            </a:r>
          </a:p>
          <a:p>
            <a:pPr marL="0" lvl="0" indent="0" algn="l">
              <a:lnSpc>
                <a:spcPts val="3238"/>
              </a:lnSpc>
            </a:pPr>
            <a:r>
              <a:rPr lang="en-US" sz="2313" spc="25">
                <a:solidFill>
                  <a:srgbClr val="000000"/>
                </a:solidFill>
                <a:latin typeface="Codec Pro"/>
                <a:ea typeface="Codec Pro"/>
                <a:cs typeface="Codec Pro"/>
                <a:sym typeface="Codec Pro"/>
              </a:rPr>
              <a:t>Create new college events with details such as event name, date, time, venue, organizer, and participants. View all events in a structured list with full details rendered dynamically through the React.js frontend, fetching data via Express.js REST APIs from MongoDB collections.</a:t>
            </a:r>
          </a:p>
        </p:txBody>
      </p:sp>
      <p:sp>
        <p:nvSpPr>
          <p:cNvPr id="11" name="TextBox 11"/>
          <p:cNvSpPr txBox="1"/>
          <p:nvPr/>
        </p:nvSpPr>
        <p:spPr>
          <a:xfrm>
            <a:off x="3546235" y="4835116"/>
            <a:ext cx="11195529" cy="2084365"/>
          </a:xfrm>
          <a:prstGeom prst="rect">
            <a:avLst/>
          </a:prstGeom>
        </p:spPr>
        <p:txBody>
          <a:bodyPr lIns="0" tIns="0" rIns="0" bIns="0" rtlCol="0" anchor="t">
            <a:spAutoFit/>
          </a:bodyPr>
          <a:lstStyle/>
          <a:p>
            <a:pPr marL="0" lvl="0" indent="0" algn="l">
              <a:lnSpc>
                <a:spcPts val="3238"/>
              </a:lnSpc>
            </a:pPr>
            <a:r>
              <a:rPr lang="en-US" sz="2313" spc="25">
                <a:solidFill>
                  <a:srgbClr val="000000"/>
                </a:solidFill>
                <a:latin typeface="Codec Pro"/>
                <a:ea typeface="Codec Pro"/>
                <a:cs typeface="Codec Pro"/>
                <a:sym typeface="Codec Pro"/>
              </a:rPr>
              <a:t>Update &amp; Manage Records</a:t>
            </a:r>
          </a:p>
          <a:p>
            <a:pPr marL="0" lvl="0" indent="0" algn="l">
              <a:lnSpc>
                <a:spcPts val="3238"/>
              </a:lnSpc>
            </a:pPr>
            <a:r>
              <a:rPr lang="en-US" sz="2313" spc="25">
                <a:solidFill>
                  <a:srgbClr val="000000"/>
                </a:solidFill>
                <a:latin typeface="Codec Pro"/>
                <a:ea typeface="Codec Pro"/>
                <a:cs typeface="Codec Pro"/>
                <a:sym typeface="Codec Pro"/>
              </a:rPr>
              <a:t>Edit and update existing event records including organizer assignments, venue changes, and participant lists. Delete outdated or cancelled events. Role-based access ensures only authorized users can modify or remove records, maintaining data integrity across the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TextBox 2"/>
          <p:cNvSpPr txBox="1"/>
          <p:nvPr/>
        </p:nvSpPr>
        <p:spPr>
          <a:xfrm>
            <a:off x="5871030" y="1185224"/>
            <a:ext cx="6545941" cy="885659"/>
          </a:xfrm>
          <a:prstGeom prst="rect">
            <a:avLst/>
          </a:prstGeom>
        </p:spPr>
        <p:txBody>
          <a:bodyPr lIns="0" tIns="0" rIns="0" bIns="0" rtlCol="0" anchor="t">
            <a:spAutoFit/>
          </a:bodyPr>
          <a:lstStyle/>
          <a:p>
            <a:pPr marL="0" lvl="0" indent="0" algn="ctr">
              <a:lnSpc>
                <a:spcPts val="6636"/>
              </a:lnSpc>
            </a:pPr>
            <a:r>
              <a:rPr lang="en-US" sz="6842">
                <a:solidFill>
                  <a:srgbClr val="005162"/>
                </a:solidFill>
                <a:latin typeface="Bree Serif"/>
                <a:ea typeface="Bree Serif"/>
                <a:cs typeface="Bree Serif"/>
                <a:sym typeface="Bree Serif"/>
              </a:rPr>
              <a:t>Objectives</a:t>
            </a:r>
          </a:p>
        </p:txBody>
      </p:sp>
      <p:sp>
        <p:nvSpPr>
          <p:cNvPr id="10" name="TextBox 10"/>
          <p:cNvSpPr txBox="1"/>
          <p:nvPr/>
        </p:nvSpPr>
        <p:spPr>
          <a:xfrm>
            <a:off x="3546235" y="2492049"/>
            <a:ext cx="7643566" cy="2399548"/>
          </a:xfrm>
          <a:prstGeom prst="rect">
            <a:avLst/>
          </a:prstGeom>
        </p:spPr>
        <p:txBody>
          <a:bodyPr lIns="0" tIns="0" rIns="0" bIns="0" rtlCol="0" anchor="t">
            <a:spAutoFit/>
          </a:bodyPr>
          <a:lstStyle/>
          <a:p>
            <a:pPr marL="0" lvl="0" indent="0" algn="l">
              <a:lnSpc>
                <a:spcPts val="3187"/>
              </a:lnSpc>
            </a:pPr>
            <a:r>
              <a:rPr lang="en-US" sz="2277" spc="25">
                <a:solidFill>
                  <a:srgbClr val="000000"/>
                </a:solidFill>
                <a:latin typeface="Codec Pro"/>
                <a:ea typeface="Codec Pro"/>
                <a:cs typeface="Codec Pro"/>
                <a:sym typeface="Codec Pro"/>
              </a:rPr>
              <a:t>Demonstrate MERN Stack development by building a fully functional college event management system. Implement CRUD operations using MongoDB to manage event name, date, time, venue, organizer, and participants. Build RESTful APIs using Node.js and Express.js to handle all backend operations efficiently.</a:t>
            </a:r>
          </a:p>
        </p:txBody>
      </p:sp>
      <p:sp>
        <p:nvSpPr>
          <p:cNvPr id="11" name="TextBox 11"/>
          <p:cNvSpPr txBox="1"/>
          <p:nvPr/>
        </p:nvSpPr>
        <p:spPr>
          <a:xfrm>
            <a:off x="7368019" y="5342686"/>
            <a:ext cx="7643566" cy="2399548"/>
          </a:xfrm>
          <a:prstGeom prst="rect">
            <a:avLst/>
          </a:prstGeom>
        </p:spPr>
        <p:txBody>
          <a:bodyPr lIns="0" tIns="0" rIns="0" bIns="0" rtlCol="0" anchor="t">
            <a:spAutoFit/>
          </a:bodyPr>
          <a:lstStyle/>
          <a:p>
            <a:pPr marL="0" lvl="0" indent="0" algn="l">
              <a:lnSpc>
                <a:spcPts val="3187"/>
              </a:lnSpc>
            </a:pPr>
            <a:r>
              <a:rPr lang="en-US" sz="2277" spc="25">
                <a:solidFill>
                  <a:srgbClr val="000000"/>
                </a:solidFill>
                <a:latin typeface="Codec Pro"/>
                <a:ea typeface="Codec Pro"/>
                <a:cs typeface="Codec Pro"/>
                <a:sym typeface="Codec Pro"/>
              </a:rPr>
              <a:t>Develop an interactive and responsive frontend using React.js to provide a seamless user experience. Implement user authentication and role-based access control to secure the system. Display project information, event records, and results clearly through a well-structured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TextBox 2"/>
          <p:cNvSpPr txBox="1"/>
          <p:nvPr/>
        </p:nvSpPr>
        <p:spPr>
          <a:xfrm>
            <a:off x="5871030" y="1185224"/>
            <a:ext cx="6545941" cy="885659"/>
          </a:xfrm>
          <a:prstGeom prst="rect">
            <a:avLst/>
          </a:prstGeom>
        </p:spPr>
        <p:txBody>
          <a:bodyPr lIns="0" tIns="0" rIns="0" bIns="0" rtlCol="0" anchor="t">
            <a:spAutoFit/>
          </a:bodyPr>
          <a:lstStyle/>
          <a:p>
            <a:pPr marL="0" lvl="0" indent="0" algn="ctr">
              <a:lnSpc>
                <a:spcPts val="6636"/>
              </a:lnSpc>
            </a:pPr>
            <a:r>
              <a:rPr lang="en-US" sz="6842">
                <a:solidFill>
                  <a:srgbClr val="005162"/>
                </a:solidFill>
                <a:latin typeface="Bree Serif"/>
                <a:ea typeface="Bree Serif"/>
                <a:cs typeface="Bree Serif"/>
                <a:sym typeface="Bree Serif"/>
              </a:rPr>
              <a:t>Result</a:t>
            </a:r>
          </a:p>
        </p:txBody>
      </p:sp>
      <p:pic>
        <p:nvPicPr>
          <p:cNvPr id="3" name="Picture 3"/>
          <p:cNvPicPr>
            <a:picLocks noChangeAspect="1"/>
          </p:cNvPicPr>
          <p:nvPr/>
        </p:nvPicPr>
        <p:blipFill>
          <a:blip r:embed="rId2"/>
          <a:stretch>
            <a:fillRect/>
          </a:stretch>
        </p:blipFill>
        <p:spPr>
          <a:xfrm>
            <a:off x="9441226" y="2034130"/>
            <a:ext cx="6969272" cy="6305157"/>
          </a:xfrm>
          <a:prstGeom prst="rect">
            <a:avLst/>
          </a:prstGeom>
        </p:spPr>
      </p:pic>
      <p:sp>
        <p:nvSpPr>
          <p:cNvPr id="11" name="TextBox 11"/>
          <p:cNvSpPr txBox="1"/>
          <p:nvPr/>
        </p:nvSpPr>
        <p:spPr>
          <a:xfrm>
            <a:off x="3901644" y="2647221"/>
            <a:ext cx="5011417" cy="5167715"/>
          </a:xfrm>
          <a:prstGeom prst="rect">
            <a:avLst/>
          </a:prstGeom>
        </p:spPr>
        <p:txBody>
          <a:bodyPr lIns="0" tIns="0" rIns="0" bIns="0" rtlCol="0" anchor="t">
            <a:spAutoFit/>
          </a:bodyPr>
          <a:lstStyle/>
          <a:p>
            <a:pPr marL="0" lvl="0" indent="0" algn="l">
              <a:lnSpc>
                <a:spcPts val="3119"/>
              </a:lnSpc>
            </a:pPr>
            <a:r>
              <a:rPr lang="en-US" sz="2228" spc="24">
                <a:solidFill>
                  <a:srgbClr val="000000"/>
                </a:solidFill>
                <a:latin typeface="Codec Pro"/>
                <a:ea typeface="Codec Pro"/>
                <a:cs typeface="Codec Pro"/>
                <a:sym typeface="Codec Pro"/>
              </a:rPr>
              <a:t>The MERN-based college event management system delivers a fully functional event workflow. Users can seamlessly create, view, update, and delete events with organized storage of event name, date, time, venue, organizer, and participants. Secure role-based access ensures only authorized users can manage records, while React.js provides a clear and intuitive interface for displaying all project information and results effectively.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4" name="TextBox 4"/>
          <p:cNvSpPr txBox="1"/>
          <p:nvPr/>
        </p:nvSpPr>
        <p:spPr>
          <a:xfrm>
            <a:off x="3980627" y="2948047"/>
            <a:ext cx="10326747" cy="3088025"/>
          </a:xfrm>
          <a:prstGeom prst="rect">
            <a:avLst/>
          </a:prstGeom>
        </p:spPr>
        <p:txBody>
          <a:bodyPr lIns="0" tIns="0" rIns="0" bIns="0" rtlCol="0" anchor="t">
            <a:spAutoFit/>
          </a:bodyPr>
          <a:lstStyle/>
          <a:p>
            <a:pPr marL="0" lvl="0" indent="0" algn="ctr">
              <a:lnSpc>
                <a:spcPts val="12032"/>
              </a:lnSpc>
            </a:pPr>
            <a:r>
              <a:rPr lang="en-US" sz="12404" dirty="0">
                <a:solidFill>
                  <a:srgbClr val="005162"/>
                </a:solidFill>
                <a:latin typeface="Bree Serif"/>
                <a:ea typeface="Bree Serif"/>
                <a:cs typeface="Bree Serif"/>
                <a:sym typeface="Bree Serif"/>
              </a:rPr>
              <a:t>Thank You!</a:t>
            </a:r>
          </a:p>
          <a:p>
            <a:pPr marL="0" lvl="0" indent="0" algn="ctr">
              <a:lnSpc>
                <a:spcPts val="12032"/>
              </a:lnSpc>
            </a:pPr>
            <a:endParaRPr lang="en-US" sz="12404">
              <a:solidFill>
                <a:srgbClr val="005162"/>
              </a:solidFill>
              <a:latin typeface="Bree Serif"/>
              <a:ea typeface="Bree Serif"/>
              <a:cs typeface="Bree Serif"/>
              <a:sym typeface="Bree Serif"/>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560</Words>
  <Application>Microsoft Office PowerPoint</Application>
  <PresentationFormat>Custom</PresentationFormat>
  <Paragraphs>27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Codec Pro</vt:lpstr>
      <vt:lpstr>Arial</vt:lpstr>
      <vt:lpstr>Bree Serif</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Tulasi</dc:creator>
  <cp:lastModifiedBy>TULASIREDDY LACHIREDDY</cp:lastModifiedBy>
  <cp:revision>2</cp:revision>
  <dcterms:created xsi:type="dcterms:W3CDTF">2006-08-16T00:00:00Z</dcterms:created>
  <dcterms:modified xsi:type="dcterms:W3CDTF">2026-10-10T07:02:08Z</dcterms:modified>
  <dc:identifier>DAHXllELRqI</dc:identifier>
</cp:coreProperties>
</file>